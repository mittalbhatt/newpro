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Synthetic Data Vault for Privacy-Preserving AI Model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Patent Opportunity – Compliance-Preserving Synthetic Data Generation</a:t>
            </a:r>
          </a:p>
          <a:p>
            <a:pPr/>
          </a:p>
          <a:p>
            <a:pPr/>
            <a:r>
              <a:t>Prepared by: Mittal Bhatt &amp; Naman Saxena</a:t>
            </a:r>
          </a:p>
          <a:p>
            <a:pPr/>
            <a:r>
              <a:t>Team: CC&amp;D – Sprinter Agile Team, Bank of America</a:t>
            </a:r>
          </a:p>
          <a:p>
            <a:pPr/>
            <a:r>
              <a:t>Date: 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 AI/ML testing requires real customer data which can violate data privacy laws (GDPR, HIPAA, RBI).</a:t>
            </a:r>
          </a:p>
          <a:p>
            <a:pPr/>
            <a:r>
              <a:t>- Traditional anonymization cannot fully prevent re-identification.</a:t>
            </a:r>
          </a:p>
          <a:p>
            <a:pPr/>
            <a:r>
              <a:t>- Need privacy-safe yet realistic datasets for AI testing.</a:t>
            </a:r>
          </a:p>
          <a:p>
            <a:pPr/>
            <a:r>
              <a:t>- Require an automated, compliant, and auditable synthetic data generation approach.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 Develop a Synthetic Data Vault (SDV) enabling model testing without real data.</a:t>
            </a:r>
          </a:p>
          <a:p>
            <a:pPr/>
            <a:r>
              <a:t>- Integrate Risk Masking and Hybrid GAN+Diffusion AI.</a:t>
            </a:r>
          </a:p>
          <a:p>
            <a:pPr/>
            <a:r>
              <a:t>- Ensure compliance using automated validation.</a:t>
            </a:r>
          </a:p>
          <a:p>
            <a:pPr/>
            <a:r>
              <a:t>- Provide traceable, reusable synthetic datasets for model testing.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Components (Patent-Coded Modules)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M1 – Data Ingestion Layer (DIL): Secure pattern extraction.</a:t>
            </a:r>
          </a:p>
          <a:p>
            <a:pPr/>
            <a:r>
              <a:t>M2 – Data Sensitivity Analyzer (DSA): Detects PII and creates Sensitivity Matrix.</a:t>
            </a:r>
          </a:p>
          <a:p>
            <a:pPr/>
            <a:r>
              <a:t>M3 – Risk Mask Generator (RMG): Builds adaptive privacy masks.</a:t>
            </a:r>
          </a:p>
          <a:p>
            <a:pPr/>
            <a:r>
              <a:t>M4 – Generative Adversarial Diffusion Engine (GADE): Risk-guided data synthesis.</a:t>
            </a:r>
          </a:p>
          <a:p>
            <a:pPr/>
            <a:r>
              <a:t>M5 – Compliance Validation Core (CVC): Privacy compliance scoring.</a:t>
            </a:r>
          </a:p>
          <a:p>
            <a:pPr/>
            <a:r>
              <a:t>M6 – Synthetic Data Vault (SDV): Encrypted repository with provenance.</a:t>
            </a:r>
          </a:p>
          <a:p>
            <a:pPr/>
            <a:r>
              <a:t>M7 – AI Testing Sandbox (AITS): Secure testing environment.</a:t>
            </a:r>
          </a:p>
          <a:p>
            <a:pPr/>
            <a:r>
              <a:t>M8 – Audit &amp; Governance Module (AGM): Immutable logs and audit reports.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 Sequence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1️⃣ DIL → 2️⃣ DSA → 3️⃣ RMG → 4️⃣ GADE → 5️⃣ CVC → 6️⃣ SDV → 7️⃣ AITS → 8️⃣ AGM</a:t>
            </a:r>
          </a:p>
          <a:p>
            <a:pPr/>
          </a:p>
          <a:p>
            <a:pPr/>
            <a:r>
              <a:t>Each stage transforms and validates data for privacy, quality, and compliance.</a:t>
            </a:r>
          </a:p>
          <a:p>
            <a:pPr/>
            <a:r>
              <a:t>The GADE module generates synthetic datasets guided by Risk Masks.</a:t>
            </a:r>
          </a:p>
          <a:p>
            <a:pPr/>
            <a:r>
              <a:t>Compliance validation ensures GDPR/HIPAA alignment before vault storage.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Algorithmic Flow (Patent Representation)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Input: Dreal, T (threshold), P (policy set)</a:t>
            </a:r>
          </a:p>
          <a:p>
            <a:pPr/>
            <a:r>
              <a:t>1. Sij = SensitivityAnalyzer(Dreal)</a:t>
            </a:r>
          </a:p>
          <a:p>
            <a:pPr/>
            <a:r>
              <a:t>2. RMM = RiskMaskGenerator(Sij, T)</a:t>
            </a:r>
          </a:p>
          <a:p>
            <a:pPr/>
            <a:r>
              <a:t>3. SDsyn = GADE(Dreal, RMM)</a:t>
            </a:r>
          </a:p>
          <a:p>
            <a:pPr/>
            <a:r>
              <a:t>4. Cscore = ComplianceValidator(SDsyn, P)</a:t>
            </a:r>
          </a:p>
          <a:p>
            <a:pPr/>
            <a:r>
              <a:t>5. If Cscore ≥ Tpolicy, store in SDV</a:t>
            </a:r>
          </a:p>
          <a:p>
            <a:pPr/>
            <a:r>
              <a:t>6. Else regenerate synthetic dataset</a:t>
            </a:r>
          </a:p>
          <a:p>
            <a:pPr/>
          </a:p>
          <a:p>
            <a:pPr/>
            <a:r>
              <a:t>Output: SDsyn (synthetic dataset) + PLedger (audit metadata)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Novelty and Inventive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1️⃣ Risk Mask-Guided Diffusion: Privacy-driven generation control.</a:t>
            </a:r>
          </a:p>
          <a:p>
            <a:pPr/>
            <a:r>
              <a:t>2️⃣ Sensitivity Matrix (Sij): Quantifies attribute correlation risk.</a:t>
            </a:r>
          </a:p>
          <a:p>
            <a:pPr/>
            <a:r>
              <a:t>3️⃣ Dual Compliance Core: Combines rule-based and ML validation.</a:t>
            </a:r>
          </a:p>
          <a:p>
            <a:pPr/>
            <a:r>
              <a:t>4️⃣ Provenance Ledger: Immutable lineage tracking for synthetic data.</a:t>
            </a:r>
          </a:p>
          <a:p>
            <a:pPr/>
            <a:r>
              <a:t>5️⃣ Adaptive Regeneration Loop: Ensures compliance on-the-fly.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Use Case – Banking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Scenario: Fraud detection model needs transaction data.</a:t>
            </a:r>
          </a:p>
          <a:p>
            <a:pPr/>
            <a:r>
              <a:t>Solution:</a:t>
            </a:r>
          </a:p>
          <a:p>
            <a:pPr/>
            <a:r>
              <a:t>- DSA detects sensitive fields.</a:t>
            </a:r>
          </a:p>
          <a:p>
            <a:pPr/>
            <a:r>
              <a:t>- RMG generates risk masks.</a:t>
            </a:r>
          </a:p>
          <a:p>
            <a:pPr/>
            <a:r>
              <a:t>- GADE produces synthetic transactions.</a:t>
            </a:r>
          </a:p>
          <a:p>
            <a:pPr/>
            <a:r>
              <a:t>- CVC validates privacy compliance.</a:t>
            </a:r>
          </a:p>
          <a:p>
            <a:pPr/>
            <a:r>
              <a:t>- SDV stores datasets for model training.</a:t>
            </a:r>
          </a:p>
          <a:p>
            <a:pPr/>
            <a:r>
              <a:t>Result: 97% model accuracy with 0% privacy leakage.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Patent Claim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 computer-implemented method for generating compliance-preserving synthetic datasets comprising:</a:t>
            </a:r>
          </a:p>
          <a:p>
            <a:pPr/>
            <a:r>
              <a:t>- detecting sensitive attribute correlations via a sensitivity matrix;</a:t>
            </a:r>
          </a:p>
          <a:p>
            <a:pPr/>
            <a:r>
              <a:t>- generating adaptive risk masks based on risk gradients;</a:t>
            </a:r>
          </a:p>
          <a:p>
            <a:pPr/>
            <a:r>
              <a:t>- guiding a hybrid GAN+Diffusion network using said risk masks;</a:t>
            </a:r>
          </a:p>
          <a:p>
            <a:pPr/>
            <a:r>
              <a:t>- validating synthetic output via compliance scoring;</a:t>
            </a:r>
          </a:p>
          <a:p>
            <a:pPr/>
            <a:r>
              <a:t>- and storing said data in a provenance-enabled vault for AI testing.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 End-to-end privacy-preserving synthetic data workflow.</a:t>
            </a:r>
          </a:p>
          <a:p>
            <a:pPr/>
            <a:r>
              <a:t>- Patent-grade hybrid of Risk Mask + GAN + Diffusion.</a:t>
            </a:r>
          </a:p>
          <a:p>
            <a:pPr/>
            <a:r>
              <a:t>- Compliance validation ensures data safety.</a:t>
            </a:r>
          </a:p>
          <a:p>
            <a:pPr/>
            <a:r>
              <a:t>- Next Steps:</a:t>
            </a:r>
          </a:p>
          <a:p>
            <a:pPr/>
            <a:r>
              <a:t>• Finalize UML/DFD (Shriya/Atul)</a:t>
            </a:r>
          </a:p>
          <a:p>
            <a:pPr/>
            <a:r>
              <a:t>• Novelty diagrams (Ramachandran)</a:t>
            </a:r>
          </a:p>
          <a:p>
            <a:pPr/>
            <a:r>
              <a:t>• Team review before patent board submission.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